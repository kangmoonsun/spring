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76" r:id="rId1"/>
  </p:sldMasterIdLst>
  <p:notesMasterIdLst>
    <p:notesMasterId r:id="rId12"/>
  </p:notesMasterIdLst>
  <p:sldIdLst>
    <p:sldId id="297" r:id="rId2"/>
    <p:sldId id="406" r:id="rId3"/>
    <p:sldId id="407" r:id="rId4"/>
    <p:sldId id="408" r:id="rId5"/>
    <p:sldId id="409" r:id="rId6"/>
    <p:sldId id="410" r:id="rId7"/>
    <p:sldId id="411" r:id="rId8"/>
    <p:sldId id="412" r:id="rId9"/>
    <p:sldId id="413" r:id="rId10"/>
    <p:sldId id="296" r:id="rId11"/>
  </p:sldIdLst>
  <p:sldSz cx="12192000" cy="6858000"/>
  <p:notesSz cx="6858000" cy="9144000"/>
  <p:embeddedFontLst>
    <p:embeddedFont>
      <p:font typeface="맑은 고딕" panose="020B0503020000020004" pitchFamily="50" charset="-127"/>
      <p:regular r:id="rId13"/>
      <p:bold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libri Light" panose="020F0302020204030204" pitchFamily="34" charset="0"/>
      <p:regular r:id="rId19"/>
      <p:italic r:id="rId20"/>
    </p:embeddedFont>
    <p:embeddedFont>
      <p:font typeface="Fira Mono" panose="020B0509050000020004" pitchFamily="49" charset="0"/>
      <p:regular r:id="rId21"/>
      <p:bold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ECE"/>
    <a:srgbClr val="BDBDFF"/>
    <a:srgbClr val="0000FF"/>
    <a:srgbClr val="EBE1DC"/>
    <a:srgbClr val="151C51"/>
    <a:srgbClr val="8DBABD"/>
    <a:srgbClr val="E6E6E6"/>
    <a:srgbClr val="EAD6BD"/>
    <a:srgbClr val="A78560"/>
    <a:srgbClr val="475D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61" autoAdjust="0"/>
    <p:restoredTop sz="78858" autoAdjust="0"/>
  </p:normalViewPr>
  <p:slideViewPr>
    <p:cSldViewPr snapToGrid="0">
      <p:cViewPr varScale="1">
        <p:scale>
          <a:sx n="61" d="100"/>
          <a:sy n="61" d="100"/>
        </p:scale>
        <p:origin x="96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FB36FB-C10C-479A-9DFD-15DEB134881C}" type="datetimeFigureOut">
              <a:rPr lang="ko-KR" altLang="en-US" smtClean="0"/>
              <a:t>2022-12-28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64B5D5-48B7-4F94-AE9E-F3674E440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004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GetDriveTypeA</a:t>
            </a:r>
            <a:r>
              <a:rPr lang="en-US" altLang="ko-KR" dirty="0"/>
              <a:t> </a:t>
            </a:r>
            <a:r>
              <a:rPr lang="ko-KR" altLang="en-US" dirty="0"/>
              <a:t>함수의 </a:t>
            </a:r>
            <a:r>
              <a:rPr lang="ko-KR" altLang="en-US" dirty="0" err="1"/>
              <a:t>리턴값</a:t>
            </a:r>
            <a:br>
              <a:rPr lang="en-US" altLang="ko-KR" dirty="0"/>
            </a:br>
            <a:r>
              <a:rPr lang="ko-KR" altLang="en-US" dirty="0"/>
              <a:t>일반적인 하드디스크라면 </a:t>
            </a:r>
            <a:r>
              <a:rPr lang="en-US" altLang="ko-KR" dirty="0"/>
              <a:t>DRIVE_FIXED(3)</a:t>
            </a:r>
            <a:r>
              <a:rPr lang="ko-KR" altLang="en-US" dirty="0"/>
              <a:t>됨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4B5D5-48B7-4F94-AE9E-F3674E44000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343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위의 코드에서 중요하게 봐야 할 점은 함수 호출 시 스택에 파라미터를 전달하는 방법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4B5D5-48B7-4F94-AE9E-F3674E44000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4549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88888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53798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42974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38173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72494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75210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78871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36157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74054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55538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3317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76352-1866-492E-A904-A7AED8B42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53451" y="6645729"/>
            <a:ext cx="27432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936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4">
            <a:extLst>
              <a:ext uri="{FF2B5EF4-FFF2-40B4-BE49-F238E27FC236}">
                <a16:creationId xmlns:a16="http://schemas.microsoft.com/office/drawing/2014/main" id="{DC9931A3-4EBC-4E7B-931D-77994F59B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3451" y="897632"/>
            <a:ext cx="11462789" cy="561766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88000">
              <a:lnSpc>
                <a:spcPct val="150000"/>
              </a:lnSpc>
              <a:buFont typeface="Wingdings" panose="05000000000000000000" pitchFamily="2" charset="2"/>
              <a:buChar char="§"/>
              <a:defRPr sz="20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540000" indent="-22860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2pPr>
            <a:lvl3pPr marL="885150" marR="0" indent="-285750" algn="l" defTabSz="914400" rtl="0" eaLnBrk="1" fontAlgn="auto" latinLnBrk="1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나눔스퀘어" panose="020B0600000101010101" pitchFamily="50" charset="-127"/>
              <a:buChar char="-"/>
              <a:tabLst/>
              <a:defRPr sz="1600">
                <a:latin typeface="나눔스퀘어" panose="020B0600000101010101" pitchFamily="50" charset="-127"/>
                <a:ea typeface="나눔스퀘어" panose="020B0600000101010101" pitchFamily="50" charset="-127"/>
              </a:defRPr>
            </a:lvl3pPr>
            <a:lvl4pPr marL="1600200" indent="-228600">
              <a:lnSpc>
                <a:spcPct val="150000"/>
              </a:lnSpc>
              <a:buFont typeface="Wingdings" panose="05000000000000000000" pitchFamily="2" charset="2"/>
              <a:buChar char="Ø"/>
              <a:defRPr sz="1400">
                <a:latin typeface="나눔스퀘어" panose="020B0600000101010101" pitchFamily="50" charset="-127"/>
                <a:ea typeface="나눔스퀘어" panose="020B0600000101010101" pitchFamily="50" charset="-127"/>
              </a:defRPr>
            </a:lvl4pPr>
          </a:lstStyle>
          <a:p>
            <a:r>
              <a:rPr lang="en-US" altLang="ko-KR" dirty="0"/>
              <a:t>First depth (</a:t>
            </a:r>
            <a:r>
              <a:rPr lang="ko-KR" altLang="en-US" dirty="0" err="1"/>
              <a:t>나눔스퀘어</a:t>
            </a:r>
            <a:r>
              <a:rPr lang="ko-KR" altLang="en-US" dirty="0"/>
              <a:t> </a:t>
            </a:r>
            <a:r>
              <a:rPr lang="en-US" altLang="ko-KR" dirty="0" err="1"/>
              <a:t>ExtraBold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Second depth (</a:t>
            </a:r>
            <a:r>
              <a:rPr lang="ko-KR" altLang="en-US" dirty="0" err="1"/>
              <a:t>나눔스퀘어</a:t>
            </a:r>
            <a:r>
              <a:rPr lang="ko-KR" altLang="en-US" dirty="0"/>
              <a:t> </a:t>
            </a:r>
            <a:r>
              <a:rPr lang="en-US" altLang="ko-KR" dirty="0"/>
              <a:t>Bold)</a:t>
            </a:r>
          </a:p>
          <a:p>
            <a:pPr lvl="2"/>
            <a:r>
              <a:rPr lang="ko-KR" altLang="en-US" dirty="0" err="1"/>
              <a:t>ㅇㅇㅇㅇ</a:t>
            </a:r>
            <a:endParaRPr lang="en-US" altLang="ko-KR" dirty="0"/>
          </a:p>
          <a:p>
            <a:pPr lvl="3"/>
            <a:r>
              <a:rPr lang="ko-KR" altLang="en-US" dirty="0" err="1"/>
              <a:t>ㅇㅇㅇ</a:t>
            </a:r>
            <a:endParaRPr lang="en-US" altLang="ko-KR" dirty="0"/>
          </a:p>
          <a:p>
            <a:pPr marL="828000" marR="0" lvl="2" indent="-228600" algn="l" defTabSz="914400" rtl="0" eaLnBrk="1" fontAlgn="auto" latinLnBrk="1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dirty="0"/>
          </a:p>
          <a:p>
            <a:pPr marL="828000" marR="0" lvl="2" indent="-228600" algn="l" defTabSz="914400" rtl="0" eaLnBrk="1" fontAlgn="auto" latinLnBrk="1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sz="1400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51C7959-5D1D-4A84-BF6A-D4D2BB0A3B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53451" y="6645729"/>
            <a:ext cx="27432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E2562D6-B6CB-4416-AE00-B9B29274F7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452" y="320212"/>
            <a:ext cx="9500985" cy="470393"/>
          </a:xfrm>
          <a:prstGeom prst="rect">
            <a:avLst/>
          </a:prstGeom>
          <a:solidFill>
            <a:srgbClr val="EBE1D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0">
            <a:normAutofit/>
          </a:bodyPr>
          <a:lstStyle>
            <a:lvl1pPr marL="0" indent="0" algn="l" defTabSz="914400" rtl="0" eaLnBrk="1" latinLnBrk="1" hangingPunct="1">
              <a:buNone/>
              <a:defRPr lang="ko-KR" altLang="en-US" sz="2200" kern="1200" spc="-113" dirty="0">
                <a:solidFill>
                  <a:srgbClr val="00002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defRPr>
            </a:lvl1pPr>
          </a:lstStyle>
          <a:p>
            <a:r>
              <a:rPr lang="en-US" altLang="ko-KR" dirty="0"/>
              <a:t>1. Chapter</a:t>
            </a:r>
            <a:r>
              <a:rPr lang="ko-KR" altLang="en-US" dirty="0"/>
              <a:t> </a:t>
            </a:r>
            <a:r>
              <a:rPr lang="en-US" altLang="ko-KR" dirty="0"/>
              <a:t>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03000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2608F9-C532-4712-9537-BB8EA0139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865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제목 13">
            <a:extLst>
              <a:ext uri="{FF2B5EF4-FFF2-40B4-BE49-F238E27FC236}">
                <a16:creationId xmlns:a16="http://schemas.microsoft.com/office/drawing/2014/main" id="{E9C46E64-CFF1-492E-808D-81B0F5DEED82}"/>
              </a:ext>
            </a:extLst>
          </p:cNvPr>
          <p:cNvSpPr txBox="1">
            <a:spLocks/>
          </p:cNvSpPr>
          <p:nvPr userDrawn="1"/>
        </p:nvSpPr>
        <p:spPr>
          <a:xfrm>
            <a:off x="5" y="6645729"/>
            <a:ext cx="12191999" cy="216000"/>
          </a:xfrm>
          <a:prstGeom prst="rect">
            <a:avLst/>
          </a:prstGeom>
          <a:solidFill>
            <a:srgbClr val="151C51"/>
          </a:solidFill>
          <a:ln>
            <a:solidFill>
              <a:srgbClr val="151C51"/>
            </a:solidFill>
          </a:ln>
        </p:spPr>
        <p:txBody>
          <a:bodyPr vert="horz" lIns="68580" tIns="34290" rIns="68580" bIns="34290" rtlCol="0" anchor="ctr">
            <a:noAutofit/>
          </a:bodyPr>
          <a:lstStyle>
            <a:lvl1pPr algn="ctr" defTabSz="685800" rtl="0" eaLnBrk="1" latinLnBrk="1" hangingPunct="1">
              <a:spcBef>
                <a:spcPct val="0"/>
              </a:spcBef>
              <a:buNone/>
              <a:defRPr sz="1200" b="1" kern="1200">
                <a:solidFill>
                  <a:schemeClr val="bg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900" dirty="0"/>
          </a:p>
        </p:txBody>
      </p:sp>
      <p:sp>
        <p:nvSpPr>
          <p:cNvPr id="8" name="제목 13">
            <a:extLst>
              <a:ext uri="{FF2B5EF4-FFF2-40B4-BE49-F238E27FC236}">
                <a16:creationId xmlns:a16="http://schemas.microsoft.com/office/drawing/2014/main" id="{CE04DAF8-0A67-44FD-A5D0-9AD609D533B1}"/>
              </a:ext>
            </a:extLst>
          </p:cNvPr>
          <p:cNvSpPr txBox="1">
            <a:spLocks/>
          </p:cNvSpPr>
          <p:nvPr userDrawn="1"/>
        </p:nvSpPr>
        <p:spPr>
          <a:xfrm>
            <a:off x="2" y="-1"/>
            <a:ext cx="12191999" cy="216000"/>
          </a:xfrm>
          <a:prstGeom prst="rect">
            <a:avLst/>
          </a:prstGeom>
          <a:solidFill>
            <a:srgbClr val="151C5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514350" rtl="0" eaLnBrk="1" latinLnBrk="1" hangingPunct="1">
              <a:spcBef>
                <a:spcPct val="0"/>
              </a:spcBef>
              <a:buNone/>
              <a:defRPr sz="1200" b="1" kern="1200">
                <a:solidFill>
                  <a:schemeClr val="bg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2CE311-1791-4BB2-8137-621C7B632C3E}"/>
              </a:ext>
            </a:extLst>
          </p:cNvPr>
          <p:cNvSpPr txBox="1"/>
          <p:nvPr userDrawn="1"/>
        </p:nvSpPr>
        <p:spPr>
          <a:xfrm>
            <a:off x="3823652" y="6617020"/>
            <a:ext cx="454469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 err="1">
                <a:solidFill>
                  <a:schemeClr val="bg1"/>
                </a:solidFill>
              </a:rPr>
              <a:t>Kangnam</a:t>
            </a:r>
            <a:r>
              <a:rPr lang="en-US" altLang="ko-KR" sz="1050" dirty="0">
                <a:solidFill>
                  <a:schemeClr val="bg1"/>
                </a:solidFill>
              </a:rPr>
              <a:t> University</a:t>
            </a:r>
            <a:endParaRPr lang="ko-KR" altLang="en-US" sz="10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4479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90" r:id="rId13"/>
    <p:sldLayoutId id="2147483675" r:id="rId1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99B442-AF7E-4BE0-8030-A4E927A05099}"/>
              </a:ext>
            </a:extLst>
          </p:cNvPr>
          <p:cNvSpPr txBox="1">
            <a:spLocks noChangeAspect="1"/>
          </p:cNvSpPr>
          <p:nvPr/>
        </p:nvSpPr>
        <p:spPr>
          <a:xfrm>
            <a:off x="2704820" y="2855653"/>
            <a:ext cx="6480000" cy="165520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>
              <a:lnSpc>
                <a:spcPct val="170000"/>
              </a:lnSpc>
            </a:pPr>
            <a:r>
              <a:rPr lang="en-US" altLang="ko-KR" sz="3000" b="1" i="0" dirty="0" err="1">
                <a:solidFill>
                  <a:srgbClr val="555555"/>
                </a:solidFill>
                <a:effectLst/>
                <a:latin typeface="AppleSDGothicNeo"/>
              </a:rPr>
              <a:t>abex</a:t>
            </a:r>
            <a:r>
              <a:rPr lang="en-US" altLang="ko-KR" sz="3000" b="1" i="0" dirty="0">
                <a:solidFill>
                  <a:srgbClr val="555555"/>
                </a:solidFill>
                <a:effectLst/>
                <a:latin typeface="AppleSDGothicNeo"/>
              </a:rPr>
              <a:t>' </a:t>
            </a:r>
            <a:r>
              <a:rPr lang="en-US" altLang="ko-KR" sz="3000" b="1" i="0" dirty="0" err="1">
                <a:solidFill>
                  <a:srgbClr val="555555"/>
                </a:solidFill>
                <a:effectLst/>
                <a:latin typeface="AppleSDGothicNeo"/>
              </a:rPr>
              <a:t>crackme</a:t>
            </a:r>
            <a:r>
              <a:rPr lang="en-US" altLang="ko-KR" sz="3000" b="1" i="0" dirty="0">
                <a:solidFill>
                  <a:srgbClr val="555555"/>
                </a:solidFill>
                <a:effectLst/>
                <a:latin typeface="AppleSDGothicNeo"/>
              </a:rPr>
              <a:t> #1</a:t>
            </a:r>
            <a:endParaRPr lang="en-US" altLang="ko-KR" sz="3000" spc="-225" dirty="0">
              <a:solidFill>
                <a:srgbClr val="00002F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2C50A0AD-B5BB-436D-BDE5-7D1E8980C25D}"/>
              </a:ext>
            </a:extLst>
          </p:cNvPr>
          <p:cNvSpPr txBox="1">
            <a:spLocks/>
          </p:cNvSpPr>
          <p:nvPr/>
        </p:nvSpPr>
        <p:spPr>
          <a:xfrm>
            <a:off x="2209800" y="4001494"/>
            <a:ext cx="7772400" cy="242520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endParaRPr lang="en-US" altLang="ko-KR" sz="2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en-US" altLang="ko-KR" sz="1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68578A9-8E6D-4EA4-8D50-14708FE1580A}"/>
              </a:ext>
            </a:extLst>
          </p:cNvPr>
          <p:cNvCxnSpPr/>
          <p:nvPr/>
        </p:nvCxnSpPr>
        <p:spPr>
          <a:xfrm>
            <a:off x="3007180" y="3683254"/>
            <a:ext cx="6177643" cy="0"/>
          </a:xfrm>
          <a:prstGeom prst="line">
            <a:avLst/>
          </a:prstGeom>
          <a:ln w="38100">
            <a:solidFill>
              <a:srgbClr val="151C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1456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A63F7DD-1B1A-415B-821B-C5D71D5D86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6CD5AB-06E3-4E9B-9418-1B36EA33A8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A3CA9EE-5B0C-8A8F-D6EB-63AA232D0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584" y="2584222"/>
            <a:ext cx="2238687" cy="1190791"/>
          </a:xfrm>
          <a:prstGeom prst="rect">
            <a:avLst/>
          </a:prstGeom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2F959522-664D-4652-D3E3-D19CE25E8930}"/>
              </a:ext>
            </a:extLst>
          </p:cNvPr>
          <p:cNvSpPr/>
          <p:nvPr/>
        </p:nvSpPr>
        <p:spPr>
          <a:xfrm>
            <a:off x="5196840" y="3039917"/>
            <a:ext cx="1311564" cy="2793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E523C75-2A1F-EC1A-7B13-C65B6CE93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882" y="2608036"/>
            <a:ext cx="2019582" cy="11431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30A865B-82D1-387D-E111-B7D8C7FF46FB}"/>
              </a:ext>
            </a:extLst>
          </p:cNvPr>
          <p:cNvSpPr txBox="1"/>
          <p:nvPr/>
        </p:nvSpPr>
        <p:spPr>
          <a:xfrm>
            <a:off x="2174089" y="4216894"/>
            <a:ext cx="78415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/>
              <a:t>crackme</a:t>
            </a:r>
            <a:r>
              <a:rPr lang="en-US" altLang="ko-KR" dirty="0"/>
              <a:t> </a:t>
            </a:r>
            <a:r>
              <a:rPr lang="ko-KR" altLang="en-US" dirty="0"/>
              <a:t>프로그램은 말 그대로 크랙 연습 목적으로 작성되어 공개된 프로그램</a:t>
            </a:r>
            <a:br>
              <a:rPr lang="en-US" altLang="ko-KR" dirty="0"/>
            </a:br>
            <a:r>
              <a:rPr lang="ko-KR" altLang="en-US" dirty="0" err="1"/>
              <a:t>디버거를</a:t>
            </a:r>
            <a:r>
              <a:rPr lang="ko-KR" altLang="en-US" dirty="0"/>
              <a:t> 실행하기 전에 파일을 실행</a:t>
            </a:r>
          </a:p>
        </p:txBody>
      </p:sp>
    </p:spTree>
    <p:extLst>
      <p:ext uri="{BB962C8B-B14F-4D97-AF65-F5344CB8AC3E}">
        <p14:creationId xmlns:p14="http://schemas.microsoft.com/office/powerpoint/2010/main" val="2669235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6CD5AB-06E3-4E9B-9418-1B36EA33A8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196675-7DCC-4494-B832-3B63F5FD3AC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3452" y="310976"/>
            <a:ext cx="9500985" cy="470393"/>
          </a:xfrm>
        </p:spPr>
        <p:txBody>
          <a:bodyPr/>
          <a:lstStyle/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A381FE6-99B5-C81E-F1EF-208E73445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05" y="1197784"/>
            <a:ext cx="11462789" cy="473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820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B7CDA87-7D07-EC67-924E-A747DA086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B25DCEE-89A5-3B53-F922-23101A5E2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991" y="945858"/>
            <a:ext cx="7196054" cy="1357746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112C9F85-BF06-7612-A84A-9B90C0AE8247}"/>
              </a:ext>
            </a:extLst>
          </p:cNvPr>
          <p:cNvSpPr/>
          <p:nvPr/>
        </p:nvSpPr>
        <p:spPr>
          <a:xfrm>
            <a:off x="2152073" y="2724727"/>
            <a:ext cx="8201891" cy="135774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0" i="0" dirty="0" err="1">
                <a:solidFill>
                  <a:srgbClr val="212529"/>
                </a:solidFill>
                <a:effectLst/>
                <a:latin typeface="-apple-system"/>
              </a:rPr>
              <a:t>GetDriveType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() API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로 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C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드라이브의 타입을 얻어오는데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(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대부분 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HDD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타입이 리턴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)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이걸 조작하여 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CD-ROM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타입으로 인식하도록 만들어 </a:t>
            </a:r>
            <a:b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</a:b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"OK, I really think that your HD is a CD-ROM! :p“</a:t>
            </a:r>
            <a:b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</a:b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메시지 박스가 출력되도록 하는 것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7152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2F1B0AA-56EF-29DF-5215-F35CEDFCCE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24A20B0-C2BF-0515-68A8-3428995BF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098" y="1696290"/>
            <a:ext cx="10059804" cy="3620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C9F119-3F61-6F26-8E1D-1B005EA3C6A9}"/>
              </a:ext>
            </a:extLst>
          </p:cNvPr>
          <p:cNvSpPr txBox="1"/>
          <p:nvPr/>
        </p:nvSpPr>
        <p:spPr>
          <a:xfrm>
            <a:off x="973735" y="1049959"/>
            <a:ext cx="10059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GetDriveTypeA</a:t>
            </a:r>
            <a:r>
              <a:rPr lang="en-US" altLang="ko-KR" dirty="0"/>
              <a:t>() </a:t>
            </a:r>
            <a:r>
              <a:rPr lang="ko-KR" altLang="en-US" dirty="0"/>
              <a:t>호출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9777FA-BCBC-C3B6-037E-38262D6850C1}"/>
              </a:ext>
            </a:extLst>
          </p:cNvPr>
          <p:cNvSpPr txBox="1"/>
          <p:nvPr/>
        </p:nvSpPr>
        <p:spPr>
          <a:xfrm>
            <a:off x="3519055" y="2554463"/>
            <a:ext cx="7514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리턴 값</a:t>
            </a:r>
            <a:r>
              <a:rPr lang="en-US" altLang="ko-KR" dirty="0"/>
              <a:t>(EAX)</a:t>
            </a:r>
            <a:r>
              <a:rPr lang="ko-KR" altLang="en-US" dirty="0"/>
              <a:t>은 </a:t>
            </a:r>
            <a:r>
              <a:rPr lang="en-US" altLang="ko-KR" dirty="0"/>
              <a:t>3(DRIVE_FIXED)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0F221FA-73F9-51B0-74FC-CB0D73016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098" y="2704622"/>
            <a:ext cx="2324424" cy="156231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956DC61-52E5-4370-A812-9D38677202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9055" y="5023244"/>
            <a:ext cx="6516009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864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6B19E6C-DDAA-4942-D311-7CF38641AD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B140A38-EB24-B7D7-8B6C-DA89E19E9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302" y="906227"/>
            <a:ext cx="7582958" cy="12955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D5C810-1E10-225C-3AA6-43A94124C44C}"/>
              </a:ext>
            </a:extLst>
          </p:cNvPr>
          <p:cNvSpPr txBox="1"/>
          <p:nvPr/>
        </p:nvSpPr>
        <p:spPr>
          <a:xfrm>
            <a:off x="1089891" y="2798618"/>
            <a:ext cx="100953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40101F</a:t>
            </a:r>
            <a:r>
              <a:rPr lang="ko-KR" altLang="en-US" dirty="0"/>
              <a:t>은 의미 없는 </a:t>
            </a:r>
            <a:r>
              <a:rPr lang="en-US" altLang="ko-KR" dirty="0"/>
              <a:t>JMP </a:t>
            </a:r>
            <a:r>
              <a:rPr lang="ko-KR" altLang="en-US" dirty="0"/>
              <a:t>명령 </a:t>
            </a:r>
            <a:r>
              <a:rPr lang="en-US" altLang="ko-KR" dirty="0"/>
              <a:t>(garbage code)</a:t>
            </a:r>
            <a:br>
              <a:rPr lang="en-US" altLang="ko-KR" dirty="0"/>
            </a:br>
            <a:r>
              <a:rPr lang="en-US" altLang="ko-KR" dirty="0"/>
              <a:t>Garbage code</a:t>
            </a:r>
            <a:r>
              <a:rPr lang="ko-KR" altLang="en-US" dirty="0"/>
              <a:t>는 디버깅을 방해하고 </a:t>
            </a:r>
            <a:r>
              <a:rPr lang="ko-KR" altLang="en-US" dirty="0" err="1"/>
              <a:t>리버서를</a:t>
            </a:r>
            <a:r>
              <a:rPr lang="ko-KR" altLang="en-US" dirty="0"/>
              <a:t> </a:t>
            </a:r>
            <a:r>
              <a:rPr lang="ko-KR" altLang="en-US" dirty="0" err="1"/>
              <a:t>혼란시키기</a:t>
            </a:r>
            <a:r>
              <a:rPr lang="ko-KR" altLang="en-US" dirty="0"/>
              <a:t> 위해 고의적으로 추가된 것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401024</a:t>
            </a:r>
            <a:r>
              <a:rPr lang="ko-KR" altLang="en-US" dirty="0"/>
              <a:t>에서</a:t>
            </a:r>
            <a:r>
              <a:rPr lang="en-US" altLang="ko-KR" dirty="0"/>
              <a:t>EAX(1)</a:t>
            </a:r>
            <a:r>
              <a:rPr lang="ko-KR" altLang="en-US" dirty="0"/>
              <a:t>와 </a:t>
            </a:r>
            <a:r>
              <a:rPr lang="en-US" altLang="ko-KR" dirty="0"/>
              <a:t>ESI(2) </a:t>
            </a:r>
            <a:r>
              <a:rPr lang="ko-KR" altLang="en-US" dirty="0"/>
              <a:t>비교</a:t>
            </a:r>
            <a:br>
              <a:rPr lang="en-US" altLang="ko-KR" dirty="0"/>
            </a:br>
            <a:r>
              <a:rPr lang="en-US" altLang="ko-KR" dirty="0"/>
              <a:t>401026 - 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Fira Mono" panose="020B0604020202020204" pitchFamily="49" charset="0"/>
              </a:rPr>
              <a:t>JE(Jump if Equal)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Fira Mono" panose="020B0604020202020204" pitchFamily="49" charset="0"/>
              </a:rPr>
              <a:t>조건 분기 명령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Fira Mono" panose="020B0604020202020204" pitchFamily="49" charset="0"/>
              </a:rPr>
              <a:t>,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Fira Mono" panose="020B0604020202020204" pitchFamily="49" charset="0"/>
              </a:rPr>
              <a:t>두 값이 같으면 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Fira Mono" panose="020B0604020202020204" pitchFamily="49" charset="0"/>
              </a:rPr>
              <a:t>40103D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Fira Mono" panose="020B0604020202020204" pitchFamily="49" charset="0"/>
              </a:rPr>
              <a:t>로 점프하고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Fira Mono" panose="020B0604020202020204" pitchFamily="49" charset="0"/>
              </a:rPr>
              <a:t>,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Fira Mono" panose="020B0604020202020204" pitchFamily="49" charset="0"/>
              </a:rPr>
              <a:t>다르면 밑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Fira Mono" panose="020B0604020202020204" pitchFamily="49" charset="0"/>
              </a:rPr>
              <a:t>(401028)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Fira Mono" panose="020B0604020202020204" pitchFamily="49" charset="0"/>
              </a:rPr>
              <a:t>으로 진행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Fira Mono" panose="020B0604020202020204" pitchFamily="49" charset="0"/>
              </a:rPr>
              <a:t>. 40103D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Fira Mono" panose="020B0604020202020204" pitchFamily="49" charset="0"/>
              </a:rPr>
              <a:t>주소는 제작자가 원하는 메시지 박스 출력 코드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1266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FBCE8BC-5EEA-E981-26A1-D08B418BAD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8FCC8F4-C234-5F7E-0C8B-AB323B14E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91973"/>
            <a:ext cx="12192000" cy="167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72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267E3CA-8F5B-549D-DF25-ECBFFCCEFF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5615CB-E70F-0FAF-7FC5-0AC19B3FAA7A}"/>
              </a:ext>
            </a:extLst>
          </p:cNvPr>
          <p:cNvSpPr txBox="1"/>
          <p:nvPr/>
        </p:nvSpPr>
        <p:spPr>
          <a:xfrm>
            <a:off x="385590" y="539827"/>
            <a:ext cx="6312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패치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60711A2-D632-BEB9-44A3-095A79061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2169"/>
            <a:ext cx="12192000" cy="20197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B8DD83-ED4F-5606-D903-CFA3F20107EC}"/>
              </a:ext>
            </a:extLst>
          </p:cNvPr>
          <p:cNvSpPr txBox="1"/>
          <p:nvPr/>
        </p:nvSpPr>
        <p:spPr>
          <a:xfrm>
            <a:off x="568910" y="3171953"/>
            <a:ext cx="10873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조건 분기</a:t>
            </a:r>
            <a:r>
              <a:rPr lang="en-US" altLang="ko-KR" dirty="0"/>
              <a:t>(JE)</a:t>
            </a:r>
            <a:r>
              <a:rPr lang="ko-KR" altLang="en-US" dirty="0"/>
              <a:t> 명령어를 점프 명령어로 바꾼다</a:t>
            </a:r>
            <a:endParaRPr lang="en-US" altLang="ko-KR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5622E6D-AF15-1529-94FC-BA7F24029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10" y="3750887"/>
            <a:ext cx="7506748" cy="1714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6F226E8-563F-F6E2-D2A5-D2510179CCBD}"/>
              </a:ext>
            </a:extLst>
          </p:cNvPr>
          <p:cNvSpPr txBox="1"/>
          <p:nvPr/>
        </p:nvSpPr>
        <p:spPr>
          <a:xfrm>
            <a:off x="568910" y="4208443"/>
            <a:ext cx="6129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조건 분기 명령어 </a:t>
            </a:r>
            <a:r>
              <a:rPr lang="en-US" altLang="ko-KR" dirty="0"/>
              <a:t>JNE(jump if it’s not equal)</a:t>
            </a:r>
            <a:r>
              <a:rPr lang="ko-KR" altLang="en-US" dirty="0"/>
              <a:t> 사용</a:t>
            </a:r>
          </a:p>
        </p:txBody>
      </p:sp>
    </p:spTree>
    <p:extLst>
      <p:ext uri="{BB962C8B-B14F-4D97-AF65-F5344CB8AC3E}">
        <p14:creationId xmlns:p14="http://schemas.microsoft.com/office/powerpoint/2010/main" val="2372564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40DC4BC-519D-BF6B-AE05-BE108C750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DD207B-4144-AEAF-7E3E-8E65E5ED84F4}"/>
              </a:ext>
            </a:extLst>
          </p:cNvPr>
          <p:cNvSpPr txBox="1"/>
          <p:nvPr/>
        </p:nvSpPr>
        <p:spPr>
          <a:xfrm>
            <a:off x="480848" y="863741"/>
            <a:ext cx="6101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i="0" dirty="0">
                <a:solidFill>
                  <a:srgbClr val="212529"/>
                </a:solidFill>
                <a:effectLst/>
                <a:latin typeface="-apple-system"/>
              </a:rPr>
              <a:t>스택에 파라미터를 전달하는 방법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A8CD12-B0F4-7035-0E70-91902AF9B74C}"/>
              </a:ext>
            </a:extLst>
          </p:cNvPr>
          <p:cNvSpPr txBox="1"/>
          <p:nvPr/>
        </p:nvSpPr>
        <p:spPr>
          <a:xfrm>
            <a:off x="480847" y="2310631"/>
            <a:ext cx="102712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401000~40100E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주소 사이의 명령어를 보면 </a:t>
            </a:r>
            <a:r>
              <a:rPr lang="en-US" altLang="ko-KR" b="0" i="0" dirty="0" err="1">
                <a:solidFill>
                  <a:srgbClr val="212529"/>
                </a:solidFill>
                <a:effectLst/>
                <a:latin typeface="-apple-system"/>
              </a:rPr>
              <a:t>MessageBoxA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()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함수를 호출하기 전 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4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번의 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PUSH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명령어를 사용하여 필요한 파라미터를 역순으로 입력</a:t>
            </a:r>
            <a:endParaRPr lang="en-US" altLang="ko-KR" b="0" i="0" dirty="0">
              <a:solidFill>
                <a:srgbClr val="212529"/>
              </a:solidFill>
              <a:effectLst/>
              <a:latin typeface="-apple-system"/>
            </a:endParaRPr>
          </a:p>
          <a:p>
            <a:endParaRPr lang="en-US" altLang="ko-KR" dirty="0">
              <a:solidFill>
                <a:srgbClr val="212529"/>
              </a:solidFill>
              <a:latin typeface="-apple-system"/>
            </a:endParaRPr>
          </a:p>
          <a:p>
            <a:r>
              <a:rPr lang="ko-KR" altLang="en-US" dirty="0">
                <a:solidFill>
                  <a:srgbClr val="212529"/>
                </a:solidFill>
                <a:latin typeface="-apple-system"/>
              </a:rPr>
              <a:t>위 어셈블리 코드를 </a:t>
            </a:r>
            <a:r>
              <a:rPr lang="en-US" altLang="ko-KR" dirty="0">
                <a:solidFill>
                  <a:srgbClr val="212529"/>
                </a:solidFill>
                <a:latin typeface="-apple-system"/>
              </a:rPr>
              <a:t>C </a:t>
            </a:r>
            <a:r>
              <a:rPr lang="ko-KR" altLang="en-US" dirty="0">
                <a:solidFill>
                  <a:srgbClr val="212529"/>
                </a:solidFill>
                <a:latin typeface="-apple-system"/>
              </a:rPr>
              <a:t>언어로 번역하면</a:t>
            </a:r>
            <a:endParaRPr lang="en-US" altLang="ko-KR" dirty="0">
              <a:solidFill>
                <a:srgbClr val="212529"/>
              </a:solidFill>
              <a:latin typeface="-apple-system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C6EC8A4-E6F9-F072-1AC0-95931E7FD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48" y="1375574"/>
            <a:ext cx="11369566" cy="7602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F185F3E-BA9E-3038-53E2-E3A5A1ABDAD5}"/>
              </a:ext>
            </a:extLst>
          </p:cNvPr>
          <p:cNvSpPr txBox="1"/>
          <p:nvPr/>
        </p:nvSpPr>
        <p:spPr>
          <a:xfrm>
            <a:off x="480847" y="3510960"/>
            <a:ext cx="10838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/>
              <a:t>MessageBox</a:t>
            </a:r>
            <a:r>
              <a:rPr lang="en-US" altLang="ko-KR" dirty="0"/>
              <a:t>(NULL, "Make me think your HD is a </a:t>
            </a:r>
            <a:r>
              <a:rPr lang="en-US" altLang="ko-KR" dirty="0" err="1"/>
              <a:t>CD-Rom</a:t>
            </a:r>
            <a:r>
              <a:rPr lang="en-US" altLang="ko-KR" dirty="0"/>
              <a:t>.", "</a:t>
            </a:r>
            <a:r>
              <a:rPr lang="en-US" altLang="ko-KR" dirty="0" err="1"/>
              <a:t>abex</a:t>
            </a:r>
            <a:r>
              <a:rPr lang="en-US" altLang="ko-KR" dirty="0"/>
              <a:t>' 1st </a:t>
            </a:r>
            <a:r>
              <a:rPr lang="en-US" altLang="ko-KR" dirty="0" err="1"/>
              <a:t>crackme</a:t>
            </a:r>
            <a:r>
              <a:rPr lang="en-US" altLang="ko-KR" dirty="0"/>
              <a:t>", MB_OK|MB_APPLMODAL);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844A01-E8E0-8E29-8F71-BECF14001A21}"/>
              </a:ext>
            </a:extLst>
          </p:cNvPr>
          <p:cNvSpPr txBox="1"/>
          <p:nvPr/>
        </p:nvSpPr>
        <p:spPr>
          <a:xfrm>
            <a:off x="480847" y="5080621"/>
            <a:ext cx="10838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</a:t>
            </a:r>
            <a:r>
              <a:rPr lang="ko-KR" altLang="en-US" dirty="0"/>
              <a:t>언어 소스코드에서 함수에 넘기는 파라미터의 순서가 어셈블리 언어에서는 역순으로 </a:t>
            </a:r>
            <a:r>
              <a:rPr lang="ko-KR" altLang="en-US" dirty="0" err="1"/>
              <a:t>넘어감</a:t>
            </a:r>
            <a:br>
              <a:rPr lang="en-US" altLang="ko-KR" dirty="0"/>
            </a:br>
            <a:r>
              <a:rPr lang="ko-KR" altLang="en-US" dirty="0"/>
              <a:t>스택은 </a:t>
            </a:r>
            <a:r>
              <a:rPr lang="en-US" altLang="ko-KR" dirty="0"/>
              <a:t>FILO(First In Last Out) </a:t>
            </a:r>
            <a:r>
              <a:rPr lang="ko-KR" altLang="en-US" dirty="0"/>
              <a:t>구조이기에 역순으로 넣어두면 받는 쪽에서 올바른 순서로 꺼냄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3F01A7D4-8A65-4D79-7B17-1821786AAD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47" y="4190715"/>
            <a:ext cx="7306695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723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4BA474-DDF0-492F-BE80-63F7EBF216F5}"/>
              </a:ext>
            </a:extLst>
          </p:cNvPr>
          <p:cNvSpPr txBox="1"/>
          <p:nvPr/>
        </p:nvSpPr>
        <p:spPr>
          <a:xfrm>
            <a:off x="4402401" y="2692855"/>
            <a:ext cx="33872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400" spc="-225" dirty="0">
                <a:solidFill>
                  <a:srgbClr val="00002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Thank you</a:t>
            </a:r>
            <a:endParaRPr lang="ko-KR" altLang="en-US" sz="5400" spc="-225" dirty="0">
              <a:solidFill>
                <a:srgbClr val="00002F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2CAF5AD-FECD-41E9-B682-F97A555FA787}"/>
              </a:ext>
            </a:extLst>
          </p:cNvPr>
          <p:cNvSpPr/>
          <p:nvPr/>
        </p:nvSpPr>
        <p:spPr>
          <a:xfrm>
            <a:off x="4524376" y="3616186"/>
            <a:ext cx="3150053" cy="80377"/>
          </a:xfrm>
          <a:prstGeom prst="rect">
            <a:avLst/>
          </a:prstGeom>
          <a:solidFill>
            <a:srgbClr val="EBE1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705860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5987</TotalTime>
  <Words>295</Words>
  <Application>Microsoft Office PowerPoint</Application>
  <PresentationFormat>와이드스크린</PresentationFormat>
  <Paragraphs>30</Paragraphs>
  <Slides>10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22" baseType="lpstr">
      <vt:lpstr>Arial</vt:lpstr>
      <vt:lpstr>Wingdings</vt:lpstr>
      <vt:lpstr>AppleSDGothicNeo</vt:lpstr>
      <vt:lpstr>나눔스퀘어</vt:lpstr>
      <vt:lpstr>맑은 고딕</vt:lpstr>
      <vt:lpstr>Fira Mono</vt:lpstr>
      <vt:lpstr>나눔스퀘어 Bold</vt:lpstr>
      <vt:lpstr>나눔스퀘어 ExtraBold</vt:lpstr>
      <vt:lpstr>-apple-system</vt:lpstr>
      <vt:lpstr>Calibri Light</vt:lpstr>
      <vt:lpstr>Calibri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hyeran kang</dc:creator>
  <cp:lastModifiedBy> </cp:lastModifiedBy>
  <cp:revision>143</cp:revision>
  <dcterms:created xsi:type="dcterms:W3CDTF">2017-05-29T09:12:16Z</dcterms:created>
  <dcterms:modified xsi:type="dcterms:W3CDTF">2022-12-28T09:13:36Z</dcterms:modified>
</cp:coreProperties>
</file>